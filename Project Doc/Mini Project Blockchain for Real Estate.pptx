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 id="260" r:id="rId6"/>
    <p:sldId id="262" r:id="rId7"/>
    <p:sldId id="263"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3859835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1367638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4014349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A83248-A031-4A57-89F6-22356A0ADAC5}" type="datetimeFigureOut">
              <a:rPr lang="en-IN" smtClean="0"/>
              <a:t>01-02-2023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3966489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A83248-A031-4A57-89F6-22356A0ADAC5}" type="datetimeFigureOut">
              <a:rPr lang="en-IN" smtClean="0"/>
              <a:t>01-02-2023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638193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A83248-A031-4A57-89F6-22356A0ADAC5}" type="datetimeFigureOut">
              <a:rPr lang="en-IN" smtClean="0"/>
              <a:t>01-02-2023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3574506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A83248-A031-4A57-89F6-22356A0ADAC5}" type="datetimeFigureOut">
              <a:rPr lang="en-IN" smtClean="0"/>
              <a:t>01-02-2023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3692485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A83248-A031-4A57-89F6-22356A0ADAC5}" type="datetimeFigureOut">
              <a:rPr lang="en-IN" smtClean="0"/>
              <a:t>01-02-2023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1887433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C8A83248-A031-4A57-89F6-22356A0ADAC5}" type="datetimeFigureOut">
              <a:rPr lang="en-IN" smtClean="0"/>
              <a:t>01-02-2023</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4015876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A83248-A031-4A57-89F6-22356A0ADAC5}" type="datetimeFigureOut">
              <a:rPr lang="en-IN" smtClean="0"/>
              <a:t>01-02-2023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2450020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239970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720214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4283057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41073380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1034339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622718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A83248-A031-4A57-89F6-22356A0ADAC5}" type="datetimeFigureOut">
              <a:rPr lang="en-IN" smtClean="0"/>
              <a:t>01-02-2023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C4C10B-0820-411E-A943-D94067A6DA73}" type="slidenum">
              <a:rPr lang="en-IN" smtClean="0"/>
              <a:t>‹#›</a:t>
            </a:fld>
            <a:endParaRPr lang="en-IN"/>
          </a:p>
        </p:txBody>
      </p:sp>
    </p:spTree>
    <p:extLst>
      <p:ext uri="{BB962C8B-B14F-4D97-AF65-F5344CB8AC3E}">
        <p14:creationId xmlns:p14="http://schemas.microsoft.com/office/powerpoint/2010/main" val="2947660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C8A83248-A031-4A57-89F6-22356A0ADAC5}" type="datetimeFigureOut">
              <a:rPr lang="en-IN" smtClean="0"/>
              <a:t>01-02-2023</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6FC4C10B-0820-411E-A943-D94067A6DA73}" type="slidenum">
              <a:rPr lang="en-IN" smtClean="0"/>
              <a:t>‹#›</a:t>
            </a:fld>
            <a:endParaRPr lang="en-IN"/>
          </a:p>
        </p:txBody>
      </p:sp>
    </p:spTree>
    <p:extLst>
      <p:ext uri="{BB962C8B-B14F-4D97-AF65-F5344CB8AC3E}">
        <p14:creationId xmlns:p14="http://schemas.microsoft.com/office/powerpoint/2010/main" val="24860273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8">
            <a:extLst>
              <a:ext uri="{FF2B5EF4-FFF2-40B4-BE49-F238E27FC236}">
                <a16:creationId xmlns:a16="http://schemas.microsoft.com/office/drawing/2014/main" id="{7D98DEFE-4259-7331-5E35-597DEA140CA3}"/>
              </a:ext>
            </a:extLst>
          </p:cNvPr>
          <p:cNvGraphicFramePr>
            <a:graphicFrameLocks noGrp="1"/>
          </p:cNvGraphicFramePr>
          <p:nvPr>
            <p:extLst>
              <p:ext uri="{D42A27DB-BD31-4B8C-83A1-F6EECF244321}">
                <p14:modId xmlns:p14="http://schemas.microsoft.com/office/powerpoint/2010/main" val="2993888752"/>
              </p:ext>
            </p:extLst>
          </p:nvPr>
        </p:nvGraphicFramePr>
        <p:xfrm>
          <a:off x="2032000" y="3445219"/>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93783454"/>
                    </a:ext>
                  </a:extLst>
                </a:gridCol>
                <a:gridCol w="4064000">
                  <a:extLst>
                    <a:ext uri="{9D8B030D-6E8A-4147-A177-3AD203B41FA5}">
                      <a16:colId xmlns:a16="http://schemas.microsoft.com/office/drawing/2014/main" val="3429602400"/>
                    </a:ext>
                  </a:extLst>
                </a:gridCol>
              </a:tblGrid>
              <a:tr h="370840">
                <a:tc>
                  <a:txBody>
                    <a:bodyPr/>
                    <a:lstStyle/>
                    <a:p>
                      <a:r>
                        <a:rPr lang="en-IN" dirty="0"/>
                        <a:t>Group members</a:t>
                      </a:r>
                    </a:p>
                  </a:txBody>
                  <a:tcPr/>
                </a:tc>
                <a:tc>
                  <a:txBody>
                    <a:bodyPr/>
                    <a:lstStyle/>
                    <a:p>
                      <a:r>
                        <a:rPr lang="en-IN" dirty="0"/>
                        <a:t>Roll No:</a:t>
                      </a:r>
                    </a:p>
                  </a:txBody>
                  <a:tcPr/>
                </a:tc>
                <a:extLst>
                  <a:ext uri="{0D108BD9-81ED-4DB2-BD59-A6C34878D82A}">
                    <a16:rowId xmlns:a16="http://schemas.microsoft.com/office/drawing/2014/main" val="74917932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Fardin Samir D</a:t>
                      </a:r>
                    </a:p>
                  </a:txBody>
                  <a:tcPr/>
                </a:tc>
                <a:tc>
                  <a:txBody>
                    <a:bodyPr/>
                    <a:lstStyle/>
                    <a:p>
                      <a:r>
                        <a:rPr lang="en-IN" dirty="0"/>
                        <a:t>06</a:t>
                      </a:r>
                    </a:p>
                  </a:txBody>
                  <a:tcPr/>
                </a:tc>
                <a:extLst>
                  <a:ext uri="{0D108BD9-81ED-4DB2-BD59-A6C34878D82A}">
                    <a16:rowId xmlns:a16="http://schemas.microsoft.com/office/drawing/2014/main" val="1703432934"/>
                  </a:ext>
                </a:extLst>
              </a:tr>
              <a:tr h="370840">
                <a:tc>
                  <a:txBody>
                    <a:bodyPr/>
                    <a:lstStyle/>
                    <a:p>
                      <a:r>
                        <a:rPr lang="en-IN" dirty="0"/>
                        <a:t>Nitin Gouda </a:t>
                      </a:r>
                    </a:p>
                  </a:txBody>
                  <a:tcPr/>
                </a:tc>
                <a:tc>
                  <a:txBody>
                    <a:bodyPr/>
                    <a:lstStyle/>
                    <a:p>
                      <a:r>
                        <a:rPr lang="en-IN" dirty="0"/>
                        <a:t>08</a:t>
                      </a:r>
                    </a:p>
                  </a:txBody>
                  <a:tcPr/>
                </a:tc>
                <a:extLst>
                  <a:ext uri="{0D108BD9-81ED-4DB2-BD59-A6C34878D82A}">
                    <a16:rowId xmlns:a16="http://schemas.microsoft.com/office/drawing/2014/main" val="3322566142"/>
                  </a:ext>
                </a:extLst>
              </a:tr>
              <a:tr h="370840">
                <a:tc>
                  <a:txBody>
                    <a:bodyPr/>
                    <a:lstStyle/>
                    <a:p>
                      <a:r>
                        <a:rPr lang="en-IN" dirty="0"/>
                        <a:t>Priyush Khobragade</a:t>
                      </a:r>
                    </a:p>
                  </a:txBody>
                  <a:tcPr/>
                </a:tc>
                <a:tc>
                  <a:txBody>
                    <a:bodyPr/>
                    <a:lstStyle/>
                    <a:p>
                      <a:r>
                        <a:rPr lang="en-IN" dirty="0"/>
                        <a:t>52</a:t>
                      </a:r>
                    </a:p>
                  </a:txBody>
                  <a:tcPr/>
                </a:tc>
                <a:extLst>
                  <a:ext uri="{0D108BD9-81ED-4DB2-BD59-A6C34878D82A}">
                    <a16:rowId xmlns:a16="http://schemas.microsoft.com/office/drawing/2014/main" val="1160717113"/>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56152361"/>
                  </a:ext>
                </a:extLst>
              </a:tr>
            </a:tbl>
          </a:graphicData>
        </a:graphic>
      </p:graphicFrame>
      <p:sp>
        <p:nvSpPr>
          <p:cNvPr id="9" name="TextBox 3">
            <a:extLst>
              <a:ext uri="{FF2B5EF4-FFF2-40B4-BE49-F238E27FC236}">
                <a16:creationId xmlns:a16="http://schemas.microsoft.com/office/drawing/2014/main" id="{AFB04147-A1E4-4E15-B5E8-36111AAF8E38}"/>
              </a:ext>
            </a:extLst>
          </p:cNvPr>
          <p:cNvSpPr txBox="1"/>
          <p:nvPr/>
        </p:nvSpPr>
        <p:spPr>
          <a:xfrm>
            <a:off x="3605819" y="729808"/>
            <a:ext cx="5193575"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1" dirty="0">
                <a:latin typeface="Agency FB" panose="020B0503020202020204" pitchFamily="34" charset="0"/>
              </a:rPr>
              <a:t>DEPARTMENT OF COMPUTER SCIENCE &amp; ENGINEERING (IOT)</a:t>
            </a:r>
          </a:p>
        </p:txBody>
      </p:sp>
      <p:sp>
        <p:nvSpPr>
          <p:cNvPr id="10" name="TextBox 4">
            <a:extLst>
              <a:ext uri="{FF2B5EF4-FFF2-40B4-BE49-F238E27FC236}">
                <a16:creationId xmlns:a16="http://schemas.microsoft.com/office/drawing/2014/main" id="{35A37DE8-4E1C-4921-BC1E-BAA081473F97}"/>
              </a:ext>
            </a:extLst>
          </p:cNvPr>
          <p:cNvSpPr txBox="1"/>
          <p:nvPr/>
        </p:nvSpPr>
        <p:spPr>
          <a:xfrm>
            <a:off x="5181803" y="1474505"/>
            <a:ext cx="1438214" cy="461665"/>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b="1" dirty="0">
                <a:latin typeface="Agency FB" panose="020B0503020202020204" pitchFamily="34" charset="0"/>
              </a:rPr>
              <a:t>Mini Project</a:t>
            </a:r>
          </a:p>
        </p:txBody>
      </p:sp>
      <p:sp>
        <p:nvSpPr>
          <p:cNvPr id="11" name="Rectangle 10">
            <a:extLst>
              <a:ext uri="{FF2B5EF4-FFF2-40B4-BE49-F238E27FC236}">
                <a16:creationId xmlns:a16="http://schemas.microsoft.com/office/drawing/2014/main" id="{24248B52-0186-635E-6E20-07D24A1DB774}"/>
              </a:ext>
            </a:extLst>
          </p:cNvPr>
          <p:cNvSpPr/>
          <p:nvPr/>
        </p:nvSpPr>
        <p:spPr>
          <a:xfrm>
            <a:off x="2660712" y="140490"/>
            <a:ext cx="7083790" cy="523220"/>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800" b="1" dirty="0">
                <a:latin typeface="Agency FB" panose="020B0503020202020204" pitchFamily="34" charset="0"/>
              </a:rPr>
              <a:t>A.C Patil College of Engineering Kharghar Navi Mumbai</a:t>
            </a:r>
          </a:p>
        </p:txBody>
      </p:sp>
      <p:sp>
        <p:nvSpPr>
          <p:cNvPr id="12" name="Rectangle 11">
            <a:extLst>
              <a:ext uri="{FF2B5EF4-FFF2-40B4-BE49-F238E27FC236}">
                <a16:creationId xmlns:a16="http://schemas.microsoft.com/office/drawing/2014/main" id="{0A8F7318-C8EA-A24A-BE10-78557DE2FC25}"/>
              </a:ext>
            </a:extLst>
          </p:cNvPr>
          <p:cNvSpPr/>
          <p:nvPr/>
        </p:nvSpPr>
        <p:spPr>
          <a:xfrm>
            <a:off x="3233678" y="2073545"/>
            <a:ext cx="5724644" cy="461665"/>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2400" b="1" dirty="0">
                <a:latin typeface="Agency FB" panose="020B0503020202020204" pitchFamily="34" charset="0"/>
              </a:rPr>
              <a:t>Title Of Project: </a:t>
            </a:r>
            <a:r>
              <a:rPr lang="en-IN" sz="2400" b="1" dirty="0"/>
              <a:t>Blockchain for Real Estate</a:t>
            </a:r>
          </a:p>
        </p:txBody>
      </p:sp>
      <p:pic>
        <p:nvPicPr>
          <p:cNvPr id="13" name="Picture 12">
            <a:extLst>
              <a:ext uri="{FF2B5EF4-FFF2-40B4-BE49-F238E27FC236}">
                <a16:creationId xmlns:a16="http://schemas.microsoft.com/office/drawing/2014/main" id="{791E7C7D-48B9-5780-BF56-1E7CC500366D}"/>
              </a:ext>
            </a:extLst>
          </p:cNvPr>
          <p:cNvPicPr>
            <a:picLocks noChangeAspect="1"/>
          </p:cNvPicPr>
          <p:nvPr/>
        </p:nvPicPr>
        <p:blipFill>
          <a:blip r:embed="rId2"/>
          <a:stretch>
            <a:fillRect/>
          </a:stretch>
        </p:blipFill>
        <p:spPr>
          <a:xfrm>
            <a:off x="300646" y="310066"/>
            <a:ext cx="1908213" cy="172531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06544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81574F-57A2-CDEE-1462-ABB53601FE20}"/>
              </a:ext>
            </a:extLst>
          </p:cNvPr>
          <p:cNvSpPr txBox="1"/>
          <p:nvPr/>
        </p:nvSpPr>
        <p:spPr>
          <a:xfrm>
            <a:off x="2756452" y="1571104"/>
            <a:ext cx="6096000" cy="3170099"/>
          </a:xfrm>
          <a:prstGeom prst="rect">
            <a:avLst/>
          </a:prstGeom>
          <a:noFill/>
        </p:spPr>
        <p:txBody>
          <a:bodyPr wrap="square">
            <a:spAutoFit/>
          </a:bodyPr>
          <a:lstStyle/>
          <a:p>
            <a:endParaRPr lang="en-US" sz="2000" dirty="0"/>
          </a:p>
          <a:p>
            <a:pPr marL="285750" indent="-285750">
              <a:buFont typeface="Arial" panose="020B0604020202020204" pitchFamily="34" charset="0"/>
              <a:buChar char="•"/>
            </a:pPr>
            <a:r>
              <a:rPr lang="en-US" sz="2000" b="1" dirty="0"/>
              <a:t>Introduction</a:t>
            </a:r>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r>
              <a:rPr lang="en-US" sz="2000" b="1" dirty="0"/>
              <a:t>Objective</a:t>
            </a:r>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r>
              <a:rPr lang="en-US" sz="2000" b="1" dirty="0"/>
              <a:t>Technology to be used</a:t>
            </a:r>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r>
              <a:rPr lang="en-US" sz="2000" b="1" dirty="0"/>
              <a:t>Conclusion</a:t>
            </a:r>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r>
              <a:rPr lang="en-US" sz="2000" b="1" dirty="0"/>
              <a:t>References</a:t>
            </a:r>
            <a:endParaRPr lang="en-IN" sz="2000" b="1" dirty="0"/>
          </a:p>
        </p:txBody>
      </p:sp>
      <p:sp>
        <p:nvSpPr>
          <p:cNvPr id="9" name="TextBox 8">
            <a:extLst>
              <a:ext uri="{FF2B5EF4-FFF2-40B4-BE49-F238E27FC236}">
                <a16:creationId xmlns:a16="http://schemas.microsoft.com/office/drawing/2014/main" id="{1F0578E7-BD41-1DF4-9C13-03BA0BCC16EB}"/>
              </a:ext>
            </a:extLst>
          </p:cNvPr>
          <p:cNvSpPr txBox="1"/>
          <p:nvPr/>
        </p:nvSpPr>
        <p:spPr>
          <a:xfrm>
            <a:off x="993913" y="1047786"/>
            <a:ext cx="6096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Outline:</a:t>
            </a:r>
          </a:p>
        </p:txBody>
      </p:sp>
    </p:spTree>
    <p:extLst>
      <p:ext uri="{BB962C8B-B14F-4D97-AF65-F5344CB8AC3E}">
        <p14:creationId xmlns:p14="http://schemas.microsoft.com/office/powerpoint/2010/main" val="2576622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BC4B55-C096-F3FE-D3FD-89824DA8C688}"/>
              </a:ext>
            </a:extLst>
          </p:cNvPr>
          <p:cNvSpPr txBox="1"/>
          <p:nvPr/>
        </p:nvSpPr>
        <p:spPr>
          <a:xfrm>
            <a:off x="331303" y="703229"/>
            <a:ext cx="3127514" cy="461665"/>
          </a:xfrm>
          <a:prstGeom prst="rect">
            <a:avLst/>
          </a:prstGeom>
          <a:noFill/>
        </p:spPr>
        <p:txBody>
          <a:bodyPr wrap="square">
            <a:spAutoFit/>
          </a:bodyPr>
          <a:lstStyle/>
          <a:p>
            <a:pPr marL="285750" indent="-285750">
              <a:buFont typeface="Arial" panose="020B0604020202020204" pitchFamily="34" charset="0"/>
              <a:buChar char="•"/>
            </a:pPr>
            <a:r>
              <a:rPr lang="en-IN" sz="2400" b="1" u="sng" dirty="0">
                <a:latin typeface="Arial" panose="020B0604020202020204" pitchFamily="34" charset="0"/>
                <a:cs typeface="Arial" panose="020B0604020202020204" pitchFamily="34" charset="0"/>
              </a:rPr>
              <a:t>INTRODUCTION</a:t>
            </a:r>
            <a:r>
              <a:rPr lang="en-IN" sz="1800" b="1" u="sng" dirty="0">
                <a:latin typeface="Arial" panose="020B0604020202020204" pitchFamily="34" charset="0"/>
                <a:cs typeface="Arial" panose="020B0604020202020204" pitchFamily="34" charset="0"/>
              </a:rPr>
              <a:t>:</a:t>
            </a:r>
            <a:endParaRPr lang="en-IN" dirty="0"/>
          </a:p>
        </p:txBody>
      </p:sp>
      <p:sp>
        <p:nvSpPr>
          <p:cNvPr id="7" name="TextBox 6">
            <a:extLst>
              <a:ext uri="{FF2B5EF4-FFF2-40B4-BE49-F238E27FC236}">
                <a16:creationId xmlns:a16="http://schemas.microsoft.com/office/drawing/2014/main" id="{342D00C3-8A32-DB10-59D3-173C0C62BD53}"/>
              </a:ext>
            </a:extLst>
          </p:cNvPr>
          <p:cNvSpPr txBox="1"/>
          <p:nvPr/>
        </p:nvSpPr>
        <p:spPr>
          <a:xfrm>
            <a:off x="742122" y="2204761"/>
            <a:ext cx="10707756" cy="1938992"/>
          </a:xfrm>
          <a:prstGeom prst="rect">
            <a:avLst/>
          </a:prstGeom>
          <a:noFill/>
        </p:spPr>
        <p:txBody>
          <a:bodyPr wrap="square">
            <a:spAutoFit/>
          </a:bodyPr>
          <a:lstStyle/>
          <a:p>
            <a:pPr marL="285750" indent="-285750">
              <a:buFont typeface="Arial" panose="020B0604020202020204" pitchFamily="34" charset="0"/>
              <a:buChar char="•"/>
            </a:pPr>
            <a:r>
              <a:rPr lang="en-US" sz="2000" dirty="0"/>
              <a:t>A blockchain is a digitally distributed, decentralized, public ledger that exists across a network.</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Globally, Real Estate is experiencing a major evolution and change towards smart cities. Smart cities are being created and a plenty of network, services, and exchanges are coordinated into the city planning at first and day by day use</a:t>
            </a:r>
            <a:endParaRPr lang="en-IN" sz="2000" dirty="0"/>
          </a:p>
        </p:txBody>
      </p:sp>
    </p:spTree>
    <p:extLst>
      <p:ext uri="{BB962C8B-B14F-4D97-AF65-F5344CB8AC3E}">
        <p14:creationId xmlns:p14="http://schemas.microsoft.com/office/powerpoint/2010/main" val="281505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1617A4-3CEC-D8E6-4891-C36A8F86AB2D}"/>
              </a:ext>
            </a:extLst>
          </p:cNvPr>
          <p:cNvSpPr txBox="1"/>
          <p:nvPr/>
        </p:nvSpPr>
        <p:spPr>
          <a:xfrm>
            <a:off x="1046922" y="835751"/>
            <a:ext cx="6096000" cy="523220"/>
          </a:xfrm>
          <a:prstGeom prst="rect">
            <a:avLst/>
          </a:prstGeom>
          <a:noFill/>
        </p:spPr>
        <p:txBody>
          <a:bodyPr wrap="square">
            <a:spAutoFit/>
          </a:bodyPr>
          <a:lstStyle/>
          <a:p>
            <a:pPr marL="285750" indent="-285750">
              <a:buFont typeface="Arial" panose="020B0604020202020204" pitchFamily="34" charset="0"/>
              <a:buChar char="•"/>
            </a:pPr>
            <a:r>
              <a:rPr lang="en-IN" sz="2800" b="1" dirty="0">
                <a:latin typeface="Arial" panose="020B0604020202020204" pitchFamily="34" charset="0"/>
                <a:cs typeface="Arial" panose="020B0604020202020204" pitchFamily="34" charset="0"/>
              </a:rPr>
              <a:t>Objective</a:t>
            </a:r>
            <a:r>
              <a:rPr lang="en-IN" b="1"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35226D72-007B-9ADE-1F71-D6139851B715}"/>
              </a:ext>
            </a:extLst>
          </p:cNvPr>
          <p:cNvSpPr txBox="1"/>
          <p:nvPr/>
        </p:nvSpPr>
        <p:spPr>
          <a:xfrm>
            <a:off x="1683027" y="2558679"/>
            <a:ext cx="9448799" cy="1569660"/>
          </a:xfrm>
          <a:prstGeom prst="rect">
            <a:avLst/>
          </a:prstGeom>
          <a:noFill/>
        </p:spPr>
        <p:txBody>
          <a:bodyPr wrap="square">
            <a:spAutoFit/>
          </a:bodyPr>
          <a:lstStyle/>
          <a:p>
            <a:pPr marL="285750" indent="-285750" algn="l">
              <a:buFont typeface="Wingdings" panose="05000000000000000000" pitchFamily="2" charset="2"/>
              <a:buChar char="q"/>
            </a:pPr>
            <a:r>
              <a:rPr lang="en-IN" sz="2400" b="0" i="0" dirty="0">
                <a:solidFill>
                  <a:srgbClr val="FFFFFF"/>
                </a:solidFill>
                <a:effectLst/>
                <a:latin typeface="+mj-lt"/>
                <a:cs typeface="Heebo" pitchFamily="2" charset="-79"/>
              </a:rPr>
              <a:t>Easy money transfers.</a:t>
            </a:r>
          </a:p>
          <a:p>
            <a:pPr marL="285750" indent="-285750">
              <a:buFont typeface="Wingdings" panose="05000000000000000000" pitchFamily="2" charset="2"/>
              <a:buChar char="q"/>
            </a:pPr>
            <a:r>
              <a:rPr lang="en-IN" sz="2400" dirty="0">
                <a:latin typeface="+mj-lt"/>
              </a:rPr>
              <a:t>Tamper proof systems.</a:t>
            </a:r>
          </a:p>
          <a:p>
            <a:pPr marL="285750" indent="-285750">
              <a:buFont typeface="Wingdings" panose="05000000000000000000" pitchFamily="2" charset="2"/>
              <a:buChar char="q"/>
            </a:pPr>
            <a:r>
              <a:rPr lang="en-US" sz="2400" dirty="0">
                <a:latin typeface="+mj-lt"/>
              </a:rPr>
              <a:t>Eliminate third party dependability for transactions.</a:t>
            </a:r>
          </a:p>
          <a:p>
            <a:pPr marL="285750" indent="-285750">
              <a:buFont typeface="Wingdings" panose="05000000000000000000" pitchFamily="2" charset="2"/>
              <a:buChar char="q"/>
            </a:pPr>
            <a:r>
              <a:rPr lang="en-US" sz="2400" dirty="0">
                <a:latin typeface="+mj-lt"/>
              </a:rPr>
              <a:t>Secure.</a:t>
            </a:r>
            <a:endParaRPr lang="en-IN" sz="2400" dirty="0">
              <a:latin typeface="+mj-lt"/>
            </a:endParaRPr>
          </a:p>
        </p:txBody>
      </p:sp>
    </p:spTree>
    <p:extLst>
      <p:ext uri="{BB962C8B-B14F-4D97-AF65-F5344CB8AC3E}">
        <p14:creationId xmlns:p14="http://schemas.microsoft.com/office/powerpoint/2010/main" val="2589617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0BA83B-ED14-811C-3933-3D205587183F}"/>
              </a:ext>
            </a:extLst>
          </p:cNvPr>
          <p:cNvSpPr txBox="1"/>
          <p:nvPr/>
        </p:nvSpPr>
        <p:spPr>
          <a:xfrm>
            <a:off x="437322" y="782742"/>
            <a:ext cx="6096000" cy="461665"/>
          </a:xfrm>
          <a:prstGeom prst="rect">
            <a:avLst/>
          </a:prstGeom>
          <a:noFill/>
        </p:spPr>
        <p:txBody>
          <a:bodyPr wrap="square">
            <a:spAutoFit/>
          </a:bodyPr>
          <a:lstStyle/>
          <a:p>
            <a:r>
              <a:rPr lang="en-IN" sz="2400" b="1" dirty="0">
                <a:latin typeface="Arial" panose="020B0604020202020204" pitchFamily="34" charset="0"/>
                <a:cs typeface="Arial" panose="020B0604020202020204" pitchFamily="34" charset="0"/>
              </a:rPr>
              <a:t>Technology to be used:</a:t>
            </a:r>
          </a:p>
        </p:txBody>
      </p:sp>
      <p:sp>
        <p:nvSpPr>
          <p:cNvPr id="7" name="TextBox 6">
            <a:extLst>
              <a:ext uri="{FF2B5EF4-FFF2-40B4-BE49-F238E27FC236}">
                <a16:creationId xmlns:a16="http://schemas.microsoft.com/office/drawing/2014/main" id="{8A5EF936-1878-6831-FD9B-BEF71CBD8DF9}"/>
              </a:ext>
            </a:extLst>
          </p:cNvPr>
          <p:cNvSpPr txBox="1"/>
          <p:nvPr/>
        </p:nvSpPr>
        <p:spPr>
          <a:xfrm>
            <a:off x="2703444" y="2406782"/>
            <a:ext cx="6096000" cy="1815882"/>
          </a:xfrm>
          <a:prstGeom prst="rect">
            <a:avLst/>
          </a:prstGeom>
          <a:noFill/>
        </p:spPr>
        <p:txBody>
          <a:bodyPr wrap="square">
            <a:spAutoFit/>
          </a:bodyPr>
          <a:lstStyle/>
          <a:p>
            <a:pPr marL="285750" indent="-285750">
              <a:buFont typeface="Arial" panose="020B0604020202020204" pitchFamily="34" charset="0"/>
              <a:buChar char="•"/>
            </a:pPr>
            <a:r>
              <a:rPr lang="en-IN" sz="2800" dirty="0"/>
              <a:t>Blockchain-</a:t>
            </a:r>
          </a:p>
          <a:p>
            <a:pPr marL="285750" indent="-285750">
              <a:buFont typeface="Arial" panose="020B0604020202020204" pitchFamily="34" charset="0"/>
              <a:buChar char="•"/>
            </a:pPr>
            <a:r>
              <a:rPr lang="en-IN" sz="2800" dirty="0"/>
              <a:t>Polygon-Hardhat</a:t>
            </a:r>
          </a:p>
          <a:p>
            <a:pPr marL="285750" indent="-285750">
              <a:buFont typeface="Arial" panose="020B0604020202020204" pitchFamily="34" charset="0"/>
              <a:buChar char="•"/>
            </a:pPr>
            <a:r>
              <a:rPr lang="en-IN" sz="2800" dirty="0"/>
              <a:t>Backend –Firebase</a:t>
            </a:r>
          </a:p>
          <a:p>
            <a:pPr marL="285750" indent="-285750">
              <a:buFont typeface="Arial" panose="020B0604020202020204" pitchFamily="34" charset="0"/>
              <a:buChar char="•"/>
            </a:pPr>
            <a:r>
              <a:rPr lang="en-IN" sz="2800" dirty="0"/>
              <a:t>Frontend-React </a:t>
            </a:r>
            <a:r>
              <a:rPr lang="en-IN" sz="2800" dirty="0" err="1"/>
              <a:t>js</a:t>
            </a:r>
            <a:endParaRPr lang="en-IN" sz="2800" dirty="0"/>
          </a:p>
        </p:txBody>
      </p:sp>
    </p:spTree>
    <p:extLst>
      <p:ext uri="{BB962C8B-B14F-4D97-AF65-F5344CB8AC3E}">
        <p14:creationId xmlns:p14="http://schemas.microsoft.com/office/powerpoint/2010/main" val="47454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B4DCEF-3A84-EC70-C3DC-F0A300DEA2F2}"/>
              </a:ext>
            </a:extLst>
          </p:cNvPr>
          <p:cNvSpPr txBox="1"/>
          <p:nvPr/>
        </p:nvSpPr>
        <p:spPr>
          <a:xfrm>
            <a:off x="742070" y="666430"/>
            <a:ext cx="6098344" cy="400110"/>
          </a:xfrm>
          <a:prstGeom prst="rect">
            <a:avLst/>
          </a:prstGeom>
          <a:noFill/>
        </p:spPr>
        <p:txBody>
          <a:bodyPr wrap="square">
            <a:spAutoFit/>
          </a:bodyPr>
          <a:lstStyle/>
          <a:p>
            <a:r>
              <a:rPr lang="en-IN" sz="2000" b="1" u="sng" dirty="0"/>
              <a:t>Conclusion</a:t>
            </a:r>
            <a:r>
              <a:rPr lang="en-IN" sz="2000" b="1" u="sng" dirty="0">
                <a:latin typeface="Arial" panose="020B0604020202020204" pitchFamily="34" charset="0"/>
                <a:cs typeface="Arial" panose="020B0604020202020204" pitchFamily="34" charset="0"/>
              </a:rPr>
              <a:t>:</a:t>
            </a:r>
            <a:endParaRPr lang="en-IN" b="1" u="sng" dirty="0"/>
          </a:p>
        </p:txBody>
      </p:sp>
      <p:sp>
        <p:nvSpPr>
          <p:cNvPr id="7" name="TextBox 6">
            <a:extLst>
              <a:ext uri="{FF2B5EF4-FFF2-40B4-BE49-F238E27FC236}">
                <a16:creationId xmlns:a16="http://schemas.microsoft.com/office/drawing/2014/main" id="{B0BD91E0-4F99-26FC-FCE0-DFBF749BD98B}"/>
              </a:ext>
            </a:extLst>
          </p:cNvPr>
          <p:cNvSpPr txBox="1"/>
          <p:nvPr/>
        </p:nvSpPr>
        <p:spPr>
          <a:xfrm>
            <a:off x="1702191" y="2228671"/>
            <a:ext cx="9091245" cy="1323439"/>
          </a:xfrm>
          <a:prstGeom prst="rect">
            <a:avLst/>
          </a:prstGeom>
          <a:noFill/>
        </p:spPr>
        <p:txBody>
          <a:bodyPr wrap="square">
            <a:spAutoFit/>
          </a:bodyPr>
          <a:lstStyle/>
          <a:p>
            <a:r>
              <a:rPr lang="en-US" sz="2000" dirty="0"/>
              <a:t>Smart contracts together with the tokenization address security, trust, and speed issues and helps in increasing token investments. This brings the capacity to involve common person to invest in huge real estate projects which are otherwise limited to a closed group of companies. </a:t>
            </a:r>
            <a:endParaRPr lang="en-IN" sz="2000" dirty="0"/>
          </a:p>
        </p:txBody>
      </p:sp>
    </p:spTree>
    <p:extLst>
      <p:ext uri="{BB962C8B-B14F-4D97-AF65-F5344CB8AC3E}">
        <p14:creationId xmlns:p14="http://schemas.microsoft.com/office/powerpoint/2010/main" val="2468269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F249F3-8521-2805-21F2-AF785880C9EE}"/>
              </a:ext>
            </a:extLst>
          </p:cNvPr>
          <p:cNvSpPr txBox="1"/>
          <p:nvPr/>
        </p:nvSpPr>
        <p:spPr>
          <a:xfrm>
            <a:off x="882747" y="1018121"/>
            <a:ext cx="6098344" cy="461665"/>
          </a:xfrm>
          <a:prstGeom prst="rect">
            <a:avLst/>
          </a:prstGeom>
          <a:noFill/>
        </p:spPr>
        <p:txBody>
          <a:bodyPr wrap="square">
            <a:spAutoFit/>
          </a:bodyPr>
          <a:lstStyle/>
          <a:p>
            <a:r>
              <a:rPr lang="en-US" sz="2400" b="1" u="sng" dirty="0"/>
              <a:t>References:</a:t>
            </a:r>
            <a:endParaRPr lang="en-IN" sz="2400" u="sng" dirty="0"/>
          </a:p>
        </p:txBody>
      </p:sp>
      <p:sp>
        <p:nvSpPr>
          <p:cNvPr id="7" name="TextBox 6">
            <a:extLst>
              <a:ext uri="{FF2B5EF4-FFF2-40B4-BE49-F238E27FC236}">
                <a16:creationId xmlns:a16="http://schemas.microsoft.com/office/drawing/2014/main" id="{6951BD5E-112F-B17C-C44C-A64B2B02DED1}"/>
              </a:ext>
            </a:extLst>
          </p:cNvPr>
          <p:cNvSpPr txBox="1"/>
          <p:nvPr/>
        </p:nvSpPr>
        <p:spPr>
          <a:xfrm>
            <a:off x="968327" y="2413337"/>
            <a:ext cx="10255346" cy="2246769"/>
          </a:xfrm>
          <a:prstGeom prst="rect">
            <a:avLst/>
          </a:prstGeom>
          <a:noFill/>
        </p:spPr>
        <p:txBody>
          <a:bodyPr wrap="square">
            <a:spAutoFit/>
          </a:bodyPr>
          <a:lstStyle/>
          <a:p>
            <a:r>
              <a:rPr lang="en-IN" sz="2000" dirty="0"/>
              <a:t>[1] Bitcoin: A Peer-to-Peer Electronic Cash System. 2008. </a:t>
            </a:r>
          </a:p>
          <a:p>
            <a:r>
              <a:rPr lang="en-IN" sz="2000" dirty="0"/>
              <a:t>[2] Eden Hall (2008) Digitized documents/a digital system must be in place before blockchain can be utilized. </a:t>
            </a:r>
          </a:p>
          <a:p>
            <a:r>
              <a:rPr lang="en-IN" sz="2000" dirty="0"/>
              <a:t>[3] https://www2.deloitte.com/content/dam/Deloitte/u s/Documents/financial-services/us-dcfs-blockchain-in-cre-thefuture-is-here.pdf </a:t>
            </a:r>
          </a:p>
          <a:p>
            <a:r>
              <a:rPr lang="en-IN" sz="2000" dirty="0"/>
              <a:t>[4] </a:t>
            </a:r>
            <a:r>
              <a:rPr lang="en-IN" sz="2000" dirty="0" err="1"/>
              <a:t>Ioannis</a:t>
            </a:r>
            <a:r>
              <a:rPr lang="en-IN" sz="2000" dirty="0"/>
              <a:t> </a:t>
            </a:r>
            <a:r>
              <a:rPr lang="en-IN" sz="2000" dirty="0" err="1"/>
              <a:t>Karamitsos</a:t>
            </a:r>
            <a:r>
              <a:rPr lang="en-IN" sz="2000" dirty="0"/>
              <a:t>, Maria </a:t>
            </a:r>
            <a:r>
              <a:rPr lang="en-IN" sz="2000" dirty="0" err="1"/>
              <a:t>Papadaki</a:t>
            </a:r>
            <a:r>
              <a:rPr lang="en-IN" sz="2000" dirty="0"/>
              <a:t> and </a:t>
            </a:r>
            <a:r>
              <a:rPr lang="en-IN" sz="2000" dirty="0" err="1"/>
              <a:t>Nedaa</a:t>
            </a:r>
            <a:r>
              <a:rPr lang="en-IN" sz="2000" dirty="0"/>
              <a:t> Baker Al </a:t>
            </a:r>
            <a:r>
              <a:rPr lang="en-IN" sz="2000" dirty="0" err="1"/>
              <a:t>Barghuthi</a:t>
            </a:r>
            <a:r>
              <a:rPr lang="en-IN" sz="2000" dirty="0"/>
              <a:t>, “Design of the Blockchain Smart Contract: A Use Case for Real Estate”, 2018</a:t>
            </a:r>
          </a:p>
        </p:txBody>
      </p:sp>
    </p:spTree>
    <p:extLst>
      <p:ext uri="{BB962C8B-B14F-4D97-AF65-F5344CB8AC3E}">
        <p14:creationId xmlns:p14="http://schemas.microsoft.com/office/powerpoint/2010/main" val="3335061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2AE9D0-C08A-F5D2-463A-EB1D319A5297}"/>
              </a:ext>
            </a:extLst>
          </p:cNvPr>
          <p:cNvSpPr txBox="1"/>
          <p:nvPr/>
        </p:nvSpPr>
        <p:spPr>
          <a:xfrm>
            <a:off x="4664766" y="2624795"/>
            <a:ext cx="2756451" cy="646331"/>
          </a:xfrm>
          <a:prstGeom prst="rect">
            <a:avLst/>
          </a:prstGeom>
          <a:noFill/>
        </p:spPr>
        <p:txBody>
          <a:bodyPr wrap="square">
            <a:spAutoFit/>
          </a:bodyPr>
          <a:lstStyle/>
          <a:p>
            <a:r>
              <a:rPr lang="en-IN" sz="3600" b="1" dirty="0"/>
              <a:t>Thank You</a:t>
            </a:r>
          </a:p>
        </p:txBody>
      </p:sp>
    </p:spTree>
    <p:extLst>
      <p:ext uri="{BB962C8B-B14F-4D97-AF65-F5344CB8AC3E}">
        <p14:creationId xmlns:p14="http://schemas.microsoft.com/office/powerpoint/2010/main" val="8483820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64</TotalTime>
  <Words>294</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Agency FB</vt:lpstr>
      <vt:lpstr>Arial</vt:lpstr>
      <vt:lpstr>Century Gothic</vt:lpstr>
      <vt:lpstr>Wingdings</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priyush khobragade</dc:creator>
  <cp:lastModifiedBy>priyush khobragade</cp:lastModifiedBy>
  <cp:revision>2</cp:revision>
  <dcterms:created xsi:type="dcterms:W3CDTF">2023-02-01T15:51:59Z</dcterms:created>
  <dcterms:modified xsi:type="dcterms:W3CDTF">2023-02-01T17:39:43Z</dcterms:modified>
</cp:coreProperties>
</file>